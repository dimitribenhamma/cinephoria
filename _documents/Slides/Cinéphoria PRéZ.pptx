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51638-12BB-46F3-900C-D214EBAA718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F8076-E172-4589-9582-FCF8234CC2C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9240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1E47-E0FA-4417-BEB3-D7BBAAD1C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DA58B82-A16A-4D0C-AA31-087CA424A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8048BA-202F-475E-86B0-7F4842CE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515491-71E9-4772-8F7F-A91B1088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6F4B46-AB96-458A-99AE-34CE628BC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759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E6F16-4318-4110-8962-887E02A3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2D6389-4ACC-496F-86A5-89F67479A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B8E687-50AD-480E-A644-DA0D30E4B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C05332-3D0F-41BC-8CF2-C02DBE45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9582A9-A7C9-44F0-83ED-F9F73791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4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46EC0A-974B-4D76-A33A-D761CCB73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916AA6-8FA6-4C94-9470-7B5727064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DB8675-CB94-47E7-8592-AFB56872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0CA485-D627-4DDB-807C-98E8B5CEA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55D867-506B-4083-BC5E-09BF5A4F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048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E3A72-C18E-4A30-B5E3-648E49FD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9089DD-25B4-4BEB-8B04-A1248C859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494D1C-C7CD-407E-8296-F868949FD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C157E7-ABE7-43EF-A7EB-34E4A267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B71CBA-E3CA-4D82-9DEF-70448221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AC96F2-8E71-4058-A625-EE95B5C9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66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4D73A1-1407-4EE5-B541-8B5981DE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FFB5C8-3C43-4F4F-9A6A-B31545E05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EC517C-96FD-4858-A0B2-E50B79598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2E93591-013D-4E34-83D1-306D8E582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DB70D46-7B43-4BE7-AE1F-2163F214F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1073F0-BFFD-4D17-BC4F-A6F58FD6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122E7FD-7CAE-4617-AC89-CD7FD297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2FC1848-8046-4207-A689-E675F5BC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867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CF094-B060-4EF2-8A99-0F935C13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748862-40B5-4A83-98B5-D6FA9FD0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33E6D3-C011-4957-AA67-4108EA52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18754A-FEF6-44A7-B9FF-C148160D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77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CCCF05D-4104-48E1-B967-5D45D000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E19054-37E9-4391-B9AB-F5161332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DA2CE0-633F-48D8-B0C9-37DB3FCF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33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4424D9-D92E-4212-91F5-BD0F3DDD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31BD9F-BB34-49B7-8C55-F1DB3356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715DA3-6E02-40F0-AD76-B7992E968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3EC30C-2421-4800-AD96-4F4B759D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39ADF7-B668-4EC1-A54C-44903767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5C1273-9360-47D1-9BFF-3CE4A58E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486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5F2BD6-12B1-49FD-9C2E-B0E85310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B403C68-1084-457A-806A-BE91AD03B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0D9A4C-6605-48D1-ABC1-BFB6765F4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16ACAC-0EF7-4989-9FA9-568BD7739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9BD37A-58F3-4B0E-A054-6EE8D4AB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257838-0C92-4AE2-8F54-E5F7B110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2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85829-1CA0-4249-AEF4-E0034345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465A7A1-04CA-44D7-BE5F-7F6B1B886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E69DB1-55F4-4D5A-B575-E4CBE8BB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BAEE0A-D06F-4D4A-B9CA-B6DAA267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156B76-0759-495F-96E7-955DF3A7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293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0425A77-C640-45BB-B6B8-4F2EF965E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C5BC781-EA11-4B7D-B6F8-277D4D5D3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373A8E-D2F8-4D40-A942-248FF2F3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A52ED-927B-4189-AC01-68E33048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EFC266-C104-4B66-96AC-74981EE3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53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8404B8D-9692-4A6B-8AFC-212CE1478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E073D5-9DA9-4591-93F9-E60154F9B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4E418D-EDE1-48C3-90D6-C96C423A3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C28D9-2EB7-4C38-A1E3-4FBE9170E0F8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8F3AB-B789-4E0A-983D-B56895DFD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F18BFE-4D8B-4C3F-B679-6E17C9C78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633CE-8A7B-4F3E-BC13-4ACBED691C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96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667F7-D414-4534-B5DA-551D416CF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56639"/>
            <a:ext cx="9144000" cy="1230460"/>
          </a:xfrm>
        </p:spPr>
        <p:txBody>
          <a:bodyPr>
            <a:normAutofit fontScale="90000"/>
          </a:bodyPr>
          <a:lstStyle/>
          <a:p>
            <a:r>
              <a:rPr lang="fr-FR" sz="8000" b="1" dirty="0">
                <a:solidFill>
                  <a:srgbClr val="BC8F00"/>
                </a:solidFill>
              </a:rPr>
              <a:t>PRESENTATION</a:t>
            </a:r>
            <a:br>
              <a:rPr lang="fr-FR" sz="8000" b="1" dirty="0">
                <a:solidFill>
                  <a:srgbClr val="BC8F00"/>
                </a:solidFill>
              </a:rPr>
            </a:br>
            <a:r>
              <a:rPr lang="fr-FR" sz="8000" b="1" dirty="0">
                <a:solidFill>
                  <a:srgbClr val="BC8F00"/>
                </a:solidFill>
              </a:rPr>
              <a:t>sur le thème : Cinéma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7FBA5F4-37E5-43D9-B9CC-4B8166C6F9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5" y="161681"/>
            <a:ext cx="1235075" cy="42926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10BD2E5-B63B-426D-A07C-B4DADDB2808B}"/>
              </a:ext>
            </a:extLst>
          </p:cNvPr>
          <p:cNvSpPr txBox="1"/>
          <p:nvPr/>
        </p:nvSpPr>
        <p:spPr>
          <a:xfrm>
            <a:off x="8222530" y="0"/>
            <a:ext cx="6094428" cy="39215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1200000" lon="0" rev="0"/>
              </a:camera>
              <a:lightRig rig="threePt" dir="t"/>
            </a:scene3d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sz="1800" b="1" dirty="0">
                <a:ln w="12700" cap="flat" cmpd="sng" algn="ctr">
                  <a:solidFill>
                    <a:srgbClr val="3A5274"/>
                  </a:solidFill>
                  <a:prstDash val="solid"/>
                  <a:round/>
                </a:ln>
                <a:solidFill>
                  <a:srgbClr val="EBEAEA"/>
                </a:solidFill>
                <a:effectLst>
                  <a:outerShdw blurRad="41275" dist="20320" dir="1800000" algn="tl">
                    <a:srgbClr val="000000">
                      <a:alpha val="40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</a:rPr>
              <a:t>ECF final</a:t>
            </a:r>
            <a:endParaRPr lang="fr-FR" sz="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Zone de texte 4">
            <a:extLst>
              <a:ext uri="{FF2B5EF4-FFF2-40B4-BE49-F238E27FC236}">
                <a16:creationId xmlns:a16="http://schemas.microsoft.com/office/drawing/2014/main" id="{5E7A4095-8854-48E8-BDA9-A983F898D080}"/>
              </a:ext>
            </a:extLst>
          </p:cNvPr>
          <p:cNvSpPr txBox="1"/>
          <p:nvPr/>
        </p:nvSpPr>
        <p:spPr>
          <a:xfrm>
            <a:off x="10406956" y="355600"/>
            <a:ext cx="1785044" cy="48701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fr-FR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Dimitri BENHAMMA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spcAft>
                <a:spcPts val="1000"/>
              </a:spcAft>
            </a:pPr>
            <a:r>
              <a:rPr lang="fr-FR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(promo ARGYROS)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8A4CDC51-EB81-4804-941A-FA8A9BD32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solidFill>
            <a:srgbClr val="763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sz="11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fr-FR" sz="11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sz="22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TP Concepteur développeur d’applications</a:t>
            </a:r>
            <a:endParaRPr lang="fr-FR" sz="11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sz="2200" b="1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Réussir mon titre Professionnel </a:t>
            </a:r>
            <a:endParaRPr lang="fr-FR" sz="11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sz="220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fr-FR" sz="11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514504-6C9B-44BF-A8F4-DF0568F172B4}"/>
              </a:ext>
            </a:extLst>
          </p:cNvPr>
          <p:cNvSpPr txBox="1"/>
          <p:nvPr/>
        </p:nvSpPr>
        <p:spPr>
          <a:xfrm>
            <a:off x="2895111" y="5549409"/>
            <a:ext cx="75118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« </a:t>
            </a:r>
            <a:r>
              <a:rPr lang="fr-FR" sz="1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Cinéphoria</a:t>
            </a:r>
            <a:r>
              <a:rPr lang="fr-F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 permet aux utilisateurs de consulter les films à l'affiche, de réserver des billets, et aux employés de gérer les salles et les séances. »</a:t>
            </a:r>
            <a:r>
              <a:rPr lang="fr-FR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 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285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088E09-DB3A-4D4C-AAE8-4A6F02A2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BE43D9-9A91-43A6-AD99-CFC29B68D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2E8B90C-B1EE-483C-A92D-550869A40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7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FFA70-DF0B-403B-B5C7-667175783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800" b="1" dirty="0">
                <a:solidFill>
                  <a:srgbClr val="BC8F00"/>
                </a:solidFill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697841-E56D-4F15-B2B6-7A5B34AE2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b="1" dirty="0">
                <a:solidFill>
                  <a:srgbClr val="BC8F00"/>
                </a:solidFill>
              </a:rPr>
              <a:t>Préalable</a:t>
            </a:r>
          </a:p>
          <a:p>
            <a:pPr>
              <a:buFontTx/>
              <a:buChar char="-"/>
            </a:pPr>
            <a:r>
              <a:rPr lang="fr-FR" b="1" dirty="0">
                <a:solidFill>
                  <a:srgbClr val="BC8F00"/>
                </a:solidFill>
              </a:rPr>
              <a:t>Codage (MVC, front </a:t>
            </a:r>
            <a:r>
              <a:rPr lang="fr-FR" b="1" dirty="0" err="1">
                <a:solidFill>
                  <a:srgbClr val="BC8F00"/>
                </a:solidFill>
              </a:rPr>
              <a:t>controller</a:t>
            </a:r>
            <a:r>
              <a:rPr lang="fr-FR" b="1" dirty="0">
                <a:solidFill>
                  <a:srgbClr val="BC8F00"/>
                </a:solidFill>
              </a:rPr>
              <a:t>, cookies, wireframes, accessibilité)</a:t>
            </a:r>
          </a:p>
          <a:p>
            <a:pPr>
              <a:buFontTx/>
              <a:buChar char="-"/>
            </a:pPr>
            <a:r>
              <a:rPr lang="fr-FR" b="1" dirty="0">
                <a:solidFill>
                  <a:srgbClr val="BC8F00"/>
                </a:solidFill>
              </a:rPr>
              <a:t>Sécurité (</a:t>
            </a:r>
            <a:r>
              <a:rPr lang="fr-FR" b="1" dirty="0" err="1">
                <a:solidFill>
                  <a:srgbClr val="BC8F00"/>
                </a:solidFill>
              </a:rPr>
              <a:t>Wamp</a:t>
            </a:r>
            <a:r>
              <a:rPr lang="fr-FR" b="1" dirty="0">
                <a:solidFill>
                  <a:srgbClr val="BC8F00"/>
                </a:solidFill>
              </a:rPr>
              <a:t>, cryptographie, injections SQL)</a:t>
            </a:r>
          </a:p>
          <a:p>
            <a:pPr>
              <a:buFontTx/>
              <a:buChar char="-"/>
            </a:pPr>
            <a:r>
              <a:rPr lang="fr-FR" b="1" dirty="0">
                <a:solidFill>
                  <a:srgbClr val="BC8F00"/>
                </a:solidFill>
              </a:rPr>
              <a:t>Diagrammes UML (séquences, réalisations)</a:t>
            </a:r>
          </a:p>
          <a:p>
            <a:pPr>
              <a:buFontTx/>
              <a:buChar char="-"/>
            </a:pPr>
            <a:r>
              <a:rPr lang="fr-FR" b="1" dirty="0">
                <a:solidFill>
                  <a:srgbClr val="BC8F00"/>
                </a:solidFill>
              </a:rPr>
              <a:t>Conclusion</a:t>
            </a:r>
            <a:endParaRPr lang="fr-FR" sz="8000" b="1" dirty="0">
              <a:solidFill>
                <a:srgbClr val="BC8F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2279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02E49B-6ACD-45CB-B7D9-D73BF705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>
                <a:solidFill>
                  <a:srgbClr val="BC8F00"/>
                </a:solidFill>
              </a:rPr>
              <a:t>Préalable</a:t>
            </a:r>
          </a:p>
        </p:txBody>
      </p:sp>
      <p:sp>
        <p:nvSpPr>
          <p:cNvPr id="4" name="Zone de texte 14">
            <a:extLst>
              <a:ext uri="{FF2B5EF4-FFF2-40B4-BE49-F238E27FC236}">
                <a16:creationId xmlns:a16="http://schemas.microsoft.com/office/drawing/2014/main" id="{327C8FB4-9455-4A07-B677-0097D1F3D1AE}"/>
              </a:ext>
            </a:extLst>
          </p:cNvPr>
          <p:cNvSpPr txBox="1"/>
          <p:nvPr/>
        </p:nvSpPr>
        <p:spPr>
          <a:xfrm>
            <a:off x="0" y="1825625"/>
            <a:ext cx="12192000" cy="1603375"/>
          </a:xfrm>
          <a:prstGeom prst="rect">
            <a:avLst/>
          </a:prstGeom>
          <a:solidFill>
            <a:srgbClr val="00B050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4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36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 Application web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fr-FR" sz="1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Blip>
                <a:blip r:embed="rId2"/>
              </a:buBlip>
            </a:pPr>
            <a:r>
              <a:rPr lang="fr-FR" sz="4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fr-FR" sz="1800" b="1" dirty="0">
                <a:solidFill>
                  <a:srgbClr val="00206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Présenter les séances disponibles sur une heure donnée et dans un cinéma donné</a:t>
            </a:r>
            <a:endParaRPr lang="fr-FR" sz="18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solidFill>
                  <a:srgbClr val="00206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Visualiser tous les films projetés dans au moins un cinéma</a:t>
            </a:r>
            <a:endParaRPr lang="fr-FR" sz="18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solidFill>
                  <a:srgbClr val="00206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Commander des billets pour une séance</a:t>
            </a:r>
            <a:endParaRPr lang="fr-FR" sz="18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solidFill>
                  <a:srgbClr val="00206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Noter une séance de cinéma</a:t>
            </a:r>
            <a:endParaRPr lang="fr-FR" sz="18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02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 de texte 14">
            <a:extLst>
              <a:ext uri="{FF2B5EF4-FFF2-40B4-BE49-F238E27FC236}">
                <a16:creationId xmlns:a16="http://schemas.microsoft.com/office/drawing/2014/main" id="{92810998-FC97-449C-B711-DB1E85D711DE}"/>
              </a:ext>
            </a:extLst>
          </p:cNvPr>
          <p:cNvSpPr txBox="1"/>
          <p:nvPr/>
        </p:nvSpPr>
        <p:spPr>
          <a:xfrm>
            <a:off x="0" y="1825625"/>
            <a:ext cx="12192000" cy="1593647"/>
          </a:xfrm>
          <a:prstGeom prst="rect">
            <a:avLst/>
          </a:prstGeom>
          <a:solidFill>
            <a:srgbClr val="00B050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2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2. Application mobile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Blip>
                <a:blip r:embed="rId2"/>
              </a:buBlip>
            </a:pPr>
            <a:r>
              <a:rPr lang="fr-FR" sz="48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fr-FR" sz="1800" b="1" dirty="0">
                <a:solidFill>
                  <a:srgbClr val="173D6D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 </a:t>
            </a:r>
            <a:r>
              <a:rPr lang="fr-FR" sz="1800" b="1" dirty="0">
                <a:solidFill>
                  <a:srgbClr val="00206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Permettre aux clients de se connecter sur leurs comptes</a:t>
            </a:r>
            <a:endParaRPr lang="fr-FR" sz="18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solidFill>
                  <a:srgbClr val="00206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Afficher le QR code d’un billet</a:t>
            </a:r>
            <a:endParaRPr lang="fr-FR" sz="18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26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 de texte 14">
            <a:extLst>
              <a:ext uri="{FF2B5EF4-FFF2-40B4-BE49-F238E27FC236}">
                <a16:creationId xmlns:a16="http://schemas.microsoft.com/office/drawing/2014/main" id="{D90A2923-6BD7-44B1-80E6-03D0C4682552}"/>
              </a:ext>
            </a:extLst>
          </p:cNvPr>
          <p:cNvSpPr txBox="1"/>
          <p:nvPr/>
        </p:nvSpPr>
        <p:spPr>
          <a:xfrm>
            <a:off x="0" y="1822445"/>
            <a:ext cx="12192000" cy="1603375"/>
          </a:xfrm>
          <a:prstGeom prst="rect">
            <a:avLst/>
          </a:prstGeom>
          <a:solidFill>
            <a:srgbClr val="00B050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2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3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3. Application bureau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1800" b="1" dirty="0">
                <a:solidFill>
                  <a:srgbClr val="173D6D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Blip>
                <a:blip r:embed="rId2"/>
              </a:buBlip>
            </a:pPr>
            <a:r>
              <a:rPr lang="fr-FR" sz="48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fr-FR" sz="1800" b="1" dirty="0">
                <a:solidFill>
                  <a:srgbClr val="173D6D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 </a:t>
            </a:r>
            <a:r>
              <a:rPr lang="fr-FR" sz="1800" b="1" dirty="0">
                <a:solidFill>
                  <a:srgbClr val="00206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Application bureautique :</a:t>
            </a:r>
            <a:endParaRPr lang="fr-FR" sz="18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solidFill>
                  <a:srgbClr val="00206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</a:rPr>
              <a:t>Permettre aux employés de saisir des incidents dans une séance. Pas concerné</a:t>
            </a:r>
            <a:endParaRPr lang="fr-FR" sz="18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011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C0DFF-087A-428A-8DF7-1E549693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>
                <a:solidFill>
                  <a:srgbClr val="BC8F00"/>
                </a:solidFill>
              </a:rPr>
              <a:t>Configurations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ABE36C2F-E431-4EB0-BD26-FAED0487823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00198" y="1681168"/>
            <a:ext cx="6104149" cy="42442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B2B9A4E-793B-4387-8822-BE5C174854F8}"/>
              </a:ext>
            </a:extLst>
          </p:cNvPr>
          <p:cNvSpPr txBox="1"/>
          <p:nvPr/>
        </p:nvSpPr>
        <p:spPr>
          <a:xfrm>
            <a:off x="77939" y="4223571"/>
            <a:ext cx="532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Logique de Config .</a:t>
            </a:r>
            <a:r>
              <a:rPr lang="fr-FR" dirty="0" err="1">
                <a:solidFill>
                  <a:srgbClr val="002060"/>
                </a:solidFill>
              </a:rPr>
              <a:t>env</a:t>
            </a:r>
            <a:r>
              <a:rPr lang="fr-FR" dirty="0">
                <a:solidFill>
                  <a:srgbClr val="002060"/>
                </a:solidFill>
              </a:rPr>
              <a:t> (variables d’environnement)</a:t>
            </a:r>
          </a:p>
          <a:p>
            <a:r>
              <a:rPr lang="fr-FR" dirty="0">
                <a:solidFill>
                  <a:srgbClr val="002060"/>
                </a:solidFill>
              </a:rPr>
              <a:t>/ constantes / HMAC_SECRET</a:t>
            </a:r>
          </a:p>
          <a:p>
            <a:r>
              <a:rPr lang="fr-FR" dirty="0">
                <a:solidFill>
                  <a:srgbClr val="002060"/>
                </a:solidFill>
              </a:rPr>
              <a:t>/ DB_HOST, DB_NAME, DB_ROOT, DB_PASS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CFF0FE-EA95-4DA2-B0A7-9B3EE2F8FF11}"/>
              </a:ext>
            </a:extLst>
          </p:cNvPr>
          <p:cNvSpPr txBox="1"/>
          <p:nvPr/>
        </p:nvSpPr>
        <p:spPr>
          <a:xfrm>
            <a:off x="5800198" y="1027906"/>
            <a:ext cx="455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Src/ MVC (</a:t>
            </a:r>
            <a:r>
              <a:rPr lang="fr-FR" b="1" dirty="0"/>
              <a:t>design pattern </a:t>
            </a:r>
            <a:r>
              <a:rPr lang="fr-FR" dirty="0">
                <a:solidFill>
                  <a:srgbClr val="FF0000"/>
                </a:solidFill>
              </a:rPr>
              <a:t>très important</a:t>
            </a:r>
            <a:r>
              <a:rPr lang="fr-FR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2C62C80-767D-4BC6-836C-A0128A7B40CC}"/>
              </a:ext>
            </a:extLst>
          </p:cNvPr>
          <p:cNvSpPr txBox="1"/>
          <p:nvPr/>
        </p:nvSpPr>
        <p:spPr>
          <a:xfrm>
            <a:off x="77939" y="2469245"/>
            <a:ext cx="54243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Logique de Config </a:t>
            </a:r>
            <a:r>
              <a:rPr lang="fr-FR" dirty="0" err="1">
                <a:solidFill>
                  <a:srgbClr val="002060"/>
                </a:solidFill>
              </a:rPr>
              <a:t>vendor</a:t>
            </a:r>
            <a:r>
              <a:rPr lang="fr-FR" dirty="0">
                <a:solidFill>
                  <a:srgbClr val="002060"/>
                </a:solidFill>
              </a:rPr>
              <a:t> (identifiants source)</a:t>
            </a:r>
          </a:p>
          <a:p>
            <a:r>
              <a:rPr lang="fr-FR" dirty="0">
                <a:solidFill>
                  <a:srgbClr val="002060"/>
                </a:solidFill>
              </a:rPr>
              <a:t>/ </a:t>
            </a:r>
            <a:r>
              <a:rPr lang="fr-FR" dirty="0" err="1">
                <a:solidFill>
                  <a:srgbClr val="002060"/>
                </a:solidFill>
              </a:rPr>
              <a:t>autoload.php</a:t>
            </a:r>
            <a:r>
              <a:rPr lang="fr-FR" dirty="0">
                <a:solidFill>
                  <a:srgbClr val="002060"/>
                </a:solidFill>
              </a:rPr>
              <a:t> : </a:t>
            </a:r>
            <a:r>
              <a:rPr lang="fr-FR" dirty="0" err="1">
                <a:solidFill>
                  <a:srgbClr val="002060"/>
                </a:solidFill>
              </a:rPr>
              <a:t>autoloading</a:t>
            </a:r>
            <a:r>
              <a:rPr lang="fr-FR" dirty="0">
                <a:solidFill>
                  <a:srgbClr val="002060"/>
                </a:solidFill>
              </a:rPr>
              <a:t> des livrables installés</a:t>
            </a:r>
          </a:p>
          <a:p>
            <a:r>
              <a:rPr lang="fr-FR" dirty="0">
                <a:solidFill>
                  <a:srgbClr val="002060"/>
                </a:solidFill>
              </a:rPr>
              <a:t>/ </a:t>
            </a:r>
            <a:r>
              <a:rPr lang="fr-FR" dirty="0" err="1">
                <a:solidFill>
                  <a:srgbClr val="002060"/>
                </a:solidFill>
              </a:rPr>
              <a:t>Vendor</a:t>
            </a:r>
            <a:r>
              <a:rPr lang="fr-FR" dirty="0">
                <a:solidFill>
                  <a:srgbClr val="002060"/>
                </a:solidFill>
              </a:rPr>
              <a:t>/ </a:t>
            </a:r>
            <a:r>
              <a:rPr lang="fr-FR" dirty="0" err="1">
                <a:solidFill>
                  <a:srgbClr val="002060"/>
                </a:solidFill>
              </a:rPr>
              <a:t>phpmailer</a:t>
            </a:r>
            <a:endParaRPr lang="fr-FR" dirty="0">
              <a:solidFill>
                <a:srgbClr val="002060"/>
              </a:solidFill>
            </a:endParaRPr>
          </a:p>
          <a:p>
            <a:r>
              <a:rPr lang="fr-FR" dirty="0">
                <a:solidFill>
                  <a:srgbClr val="002060"/>
                </a:solidFill>
              </a:rPr>
              <a:t>/ </a:t>
            </a:r>
            <a:r>
              <a:rPr lang="fr-FR" dirty="0" err="1">
                <a:solidFill>
                  <a:srgbClr val="002060"/>
                </a:solidFill>
              </a:rPr>
              <a:t>Composer.json</a:t>
            </a:r>
            <a:endParaRPr lang="fr-FR" dirty="0">
              <a:solidFill>
                <a:srgbClr val="002060"/>
              </a:solidFill>
            </a:endParaRPr>
          </a:p>
          <a:p>
            <a:endParaRPr lang="fr-FR" dirty="0">
              <a:solidFill>
                <a:srgbClr val="002060"/>
              </a:solidFill>
            </a:endParaRPr>
          </a:p>
          <a:p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56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7CA5C9-4357-4013-8BAD-4718F6D0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>
                <a:solidFill>
                  <a:srgbClr val="BC8F00"/>
                </a:solidFill>
              </a:rPr>
              <a:t>Architecture</a:t>
            </a:r>
            <a:endParaRPr lang="fr-FR" sz="4800" dirty="0">
              <a:solidFill>
                <a:srgbClr val="BC8F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544E32-2868-4D09-861D-E468DC294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dirty="0">
                <a:solidFill>
                  <a:srgbClr val="002060"/>
                </a:solidFill>
              </a:rPr>
              <a:t>MVC</a:t>
            </a:r>
          </a:p>
          <a:p>
            <a:pPr>
              <a:buFontTx/>
              <a:buChar char="-"/>
            </a:pPr>
            <a:r>
              <a:rPr lang="fr-FR" b="1" dirty="0">
                <a:solidFill>
                  <a:srgbClr val="002060"/>
                </a:solidFill>
              </a:rPr>
              <a:t>S’occupe de la gestion (</a:t>
            </a:r>
            <a:r>
              <a:rPr lang="fr-FR" dirty="0">
                <a:solidFill>
                  <a:srgbClr val="002060"/>
                </a:solidFill>
              </a:rPr>
              <a:t>règles uniques</a:t>
            </a:r>
            <a:r>
              <a:rPr lang="fr-FR" b="1" dirty="0">
                <a:solidFill>
                  <a:srgbClr val="002060"/>
                </a:solidFill>
              </a:rPr>
              <a:t>)</a:t>
            </a:r>
          </a:p>
          <a:p>
            <a:pPr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Communique avec </a:t>
            </a:r>
            <a:r>
              <a:rPr lang="fr-FR" u="sng" dirty="0">
                <a:solidFill>
                  <a:srgbClr val="002060"/>
                </a:solidFill>
              </a:rPr>
              <a:t>la couche base de données</a:t>
            </a:r>
          </a:p>
          <a:p>
            <a:pPr marL="0" indent="0">
              <a:buNone/>
            </a:pPr>
            <a:endParaRPr lang="fr-FR" u="sng" dirty="0">
              <a:solidFill>
                <a:srgbClr val="002060"/>
              </a:solidFill>
            </a:endParaRPr>
          </a:p>
          <a:p>
            <a:r>
              <a:rPr lang="fr-FR" dirty="0" err="1">
                <a:solidFill>
                  <a:srgbClr val="002060"/>
                </a:solidFill>
              </a:rPr>
              <a:t>View</a:t>
            </a:r>
            <a:r>
              <a:rPr lang="fr-FR" dirty="0">
                <a:solidFill>
                  <a:srgbClr val="002060"/>
                </a:solidFill>
              </a:rPr>
              <a:t> : Présentation &amp; affichage</a:t>
            </a:r>
            <a:r>
              <a:rPr lang="fr-FR" dirty="0"/>
              <a:t>	</a:t>
            </a:r>
          </a:p>
          <a:p>
            <a:r>
              <a:rPr lang="fr-FR" dirty="0">
                <a:solidFill>
                  <a:srgbClr val="002060"/>
                </a:solidFill>
              </a:rPr>
              <a:t>Model : contient d’autres données , nos classes</a:t>
            </a:r>
          </a:p>
          <a:p>
            <a:r>
              <a:rPr lang="fr-FR" dirty="0">
                <a:solidFill>
                  <a:srgbClr val="002060"/>
                </a:solidFill>
              </a:rPr>
              <a:t>Controller : fait le lien entre la couche d’abstraction de données et la </a:t>
            </a:r>
            <a:r>
              <a:rPr lang="fr-FR" dirty="0" err="1">
                <a:solidFill>
                  <a:srgbClr val="002060"/>
                </a:solidFill>
              </a:rPr>
              <a:t>View</a:t>
            </a:r>
            <a:endParaRPr lang="fr-FR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rgbClr val="002060"/>
                </a:solidFill>
              </a:rPr>
              <a:t>Src/ MVC (</a:t>
            </a:r>
            <a:r>
              <a:rPr lang="fr-FR" b="1" dirty="0"/>
              <a:t>design pattern </a:t>
            </a:r>
            <a:r>
              <a:rPr lang="fr-FR" dirty="0">
                <a:solidFill>
                  <a:srgbClr val="FF0000"/>
                </a:solidFill>
              </a:rPr>
              <a:t>très important</a:t>
            </a:r>
            <a:r>
              <a:rPr lang="fr-FR" dirty="0">
                <a:solidFill>
                  <a:srgbClr val="002060"/>
                </a:solidFill>
              </a:rPr>
              <a:t>)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endParaRPr lang="fr-FR" dirty="0">
              <a:solidFill>
                <a:srgbClr val="002060"/>
              </a:solidFill>
            </a:endParaRPr>
          </a:p>
          <a:p>
            <a:endParaRPr lang="fr-FR" dirty="0">
              <a:solidFill>
                <a:srgbClr val="00206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003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3200A4-D307-4A66-A167-F8F8E287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Sécurité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AE05CE-AAD7-48FD-9FB1-19D42437B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Ce que nous n’aborderons pas : </a:t>
            </a: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les commandes précises (obsolètes dans quelques années)</a:t>
            </a:r>
          </a:p>
          <a:p>
            <a:r>
              <a:rPr lang="fr-FR" sz="1800" dirty="0">
                <a:solidFill>
                  <a:srgbClr val="00B05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CSS Injection : remplacement dans la requête initiale par l’écriture de guillemets ou apostrophes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fr-FR" sz="1800" dirty="0">
                <a:solidFill>
                  <a:srgbClr val="00B050"/>
                </a:solidFill>
                <a:latin typeface="Roboto" panose="020000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Contournement de l’authentification avec des commentaires 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B050"/>
                </a:solidFill>
                <a:latin typeface="Roboto" panose="020000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Qurey</a:t>
            </a:r>
            <a:r>
              <a:rPr lang="fr-FR" sz="1800" dirty="0">
                <a:solidFill>
                  <a:srgbClr val="00B050"/>
                </a:solidFill>
                <a:latin typeface="Roboto" panose="020000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: SELECT * FROM `table` WHERE user=‘admin </a:t>
            </a:r>
          </a:p>
          <a:p>
            <a:pPr marL="0" indent="0">
              <a:buNone/>
            </a:pPr>
            <a:endParaRPr lang="fr-FR" sz="1800" dirty="0">
              <a:solidFill>
                <a:srgbClr val="000000"/>
              </a:solidFill>
              <a:latin typeface="Roboto" panose="020000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0390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340</Words>
  <Application>Microsoft Office PowerPoint</Application>
  <PresentationFormat>Grand écran</PresentationFormat>
  <Paragraphs>61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Roboto</vt:lpstr>
      <vt:lpstr>Segoe UI Emoji</vt:lpstr>
      <vt:lpstr>Symbol</vt:lpstr>
      <vt:lpstr>Wingdings</vt:lpstr>
      <vt:lpstr>Thème Office</vt:lpstr>
      <vt:lpstr>PRESENTATION sur le thème : Cinéma</vt:lpstr>
      <vt:lpstr>Présentation PowerPoint</vt:lpstr>
      <vt:lpstr>Sommaire</vt:lpstr>
      <vt:lpstr>Préalable</vt:lpstr>
      <vt:lpstr>Présentation PowerPoint</vt:lpstr>
      <vt:lpstr>Présentation PowerPoint</vt:lpstr>
      <vt:lpstr>Configurations</vt:lpstr>
      <vt:lpstr>Architecture</vt:lpstr>
      <vt:lpstr>Sécurité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CINÉPHORIA</dc:title>
  <dc:creator>Dimitri Benhamma</dc:creator>
  <cp:lastModifiedBy>Dimitri Benhamma</cp:lastModifiedBy>
  <cp:revision>31</cp:revision>
  <dcterms:created xsi:type="dcterms:W3CDTF">2025-09-16T08:49:34Z</dcterms:created>
  <dcterms:modified xsi:type="dcterms:W3CDTF">2025-10-11T11:19:36Z</dcterms:modified>
</cp:coreProperties>
</file>